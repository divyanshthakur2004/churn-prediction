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83" r:id="rId2"/>
    <p:sldId id="257" r:id="rId3"/>
    <p:sldId id="282" r:id="rId4"/>
    <p:sldId id="285" r:id="rId5"/>
    <p:sldId id="278" r:id="rId6"/>
    <p:sldId id="279" r:id="rId7"/>
    <p:sldId id="292" r:id="rId8"/>
    <p:sldId id="293" r:id="rId9"/>
    <p:sldId id="262" r:id="rId10"/>
    <p:sldId id="290" r:id="rId11"/>
    <p:sldId id="291" r:id="rId12"/>
    <p:sldId id="296" r:id="rId13"/>
    <p:sldId id="297" r:id="rId14"/>
    <p:sldId id="298" r:id="rId15"/>
    <p:sldId id="286" r:id="rId16"/>
    <p:sldId id="287" r:id="rId17"/>
    <p:sldId id="280" r:id="rId18"/>
    <p:sldId id="288" r:id="rId19"/>
    <p:sldId id="294" r:id="rId20"/>
    <p:sldId id="295" r:id="rId21"/>
    <p:sldId id="289" r:id="rId22"/>
    <p:sldId id="276"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746EE066-C99A-1548-0111-A8297267F854}" v="733" dt="2026-06-19T08:10:03.439"/>
    <p1510:client id="{86BCD85A-7972-A6FD-263D-01F0C6DCFF46}" v="8" dt="2026-06-19T08:02:34.666"/>
    <p1510:client id="{A6B9108B-7598-1D50-C4AA-8A38026DAEEF}" v="18" dt="2026-06-19T06:56:18.840"/>
    <p1510:client id="{F65B29D0-DD12-DDC3-5CE1-E2A91AABFDBA}" v="57" dt="2026-06-19T08:09:53.82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D3EECA76-338B-8CBD-9B1E-439B4E4267EA}"/>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FDCBB670-BFAF-1343-7B86-71C01E8CFA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C7750C32-CACE-5C8A-7E70-04AB71A077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3445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F0FAAAF-6E13-8DF0-0C5C-E750BC2395BA}"/>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2971BBC2-CDF6-3653-FC64-10E5489623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A13CF84-24DB-E414-3E6B-E5B287C6E1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3250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DivyanshThakur2004/Churn-Prediction"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Machine Learning with IBM Cloud”</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819397597"/>
              </p:ext>
            </p:extLst>
          </p:nvPr>
        </p:nvGraphicFramePr>
        <p:xfrm>
          <a:off x="481807" y="2600314"/>
          <a:ext cx="10795793" cy="2492795"/>
        </p:xfrm>
        <a:graphic>
          <a:graphicData uri="http://schemas.openxmlformats.org/drawingml/2006/table">
            <a:tbl>
              <a:tblPr>
                <a:noFill/>
                <a:tableStyleId>{0AAD8F4D-43EB-41E5-8A38-28AB6DFB1B60}</a:tableStyleId>
              </a:tblPr>
              <a:tblGrid>
                <a:gridCol w="2372741">
                  <a:extLst>
                    <a:ext uri="{9D8B030D-6E8A-4147-A177-3AD203B41FA5}">
                      <a16:colId xmlns:a16="http://schemas.microsoft.com/office/drawing/2014/main" val="20000"/>
                    </a:ext>
                  </a:extLst>
                </a:gridCol>
                <a:gridCol w="2807684">
                  <a:extLst>
                    <a:ext uri="{9D8B030D-6E8A-4147-A177-3AD203B41FA5}">
                      <a16:colId xmlns:a16="http://schemas.microsoft.com/office/drawing/2014/main" val="20002"/>
                    </a:ext>
                  </a:extLst>
                </a:gridCol>
                <a:gridCol w="2807684">
                  <a:extLst>
                    <a:ext uri="{9D8B030D-6E8A-4147-A177-3AD203B41FA5}">
                      <a16:colId xmlns:a16="http://schemas.microsoft.com/office/drawing/2014/main" val="20003"/>
                    </a:ext>
                  </a:extLst>
                </a:gridCol>
                <a:gridCol w="2807684">
                  <a:extLst>
                    <a:ext uri="{9D8B030D-6E8A-4147-A177-3AD203B41FA5}">
                      <a16:colId xmlns:a16="http://schemas.microsoft.com/office/drawing/2014/main" val="20004"/>
                    </a:ext>
                  </a:extLst>
                </a:gridCol>
              </a:tblGrid>
              <a:tr h="1119491">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373304">
                <a:tc>
                  <a:txBody>
                    <a:bodyPr/>
                    <a:lstStyle/>
                    <a:p>
                      <a:pPr marL="0" marR="0" lvl="0" indent="0" algn="ctr" rtl="0">
                        <a:spcBef>
                          <a:spcPts val="0"/>
                        </a:spcBef>
                        <a:spcAft>
                          <a:spcPts val="0"/>
                        </a:spcAft>
                        <a:buNone/>
                      </a:pPr>
                      <a:r>
                        <a:rPr lang="en-US" b="1" dirty="0"/>
                        <a:t>Divyansh Thakur</a:t>
                      </a:r>
                      <a:endParaRPr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a:t>divyanshthakur675@gmail.com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a:t>+91-8755529818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2" y="1743716"/>
            <a:ext cx="10280254" cy="461665"/>
          </a:xfrm>
          <a:prstGeom prst="rect">
            <a:avLst/>
          </a:prstGeom>
          <a:noFill/>
        </p:spPr>
        <p:txBody>
          <a:bodyPr wrap="square" rtlCol="0">
            <a:spAutoFit/>
          </a:bodyPr>
          <a:lstStyle/>
          <a:p>
            <a:r>
              <a:rPr lang="en-US" sz="2400" b="1" dirty="0"/>
              <a:t>Domain of  Project – </a:t>
            </a:r>
            <a:r>
              <a:rPr lang="en-IN" sz="2400" dirty="0"/>
              <a:t>Telecommunications / Customer Analytics</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IN" sz="2400" dirty="0"/>
              <a:t>AI-Powered Customer Churn Prediction &amp; Retention Analytics Platform using IBM Watson Machine Learning</a:t>
            </a:r>
            <a:endParaRPr lang="en-IN" sz="2400" b="1" dirty="0">
              <a:highlight>
                <a:srgbClr val="FFFF00"/>
              </a:highlight>
            </a:endParaRPr>
          </a:p>
        </p:txBody>
      </p:sp>
      <p:pic>
        <p:nvPicPr>
          <p:cNvPr id="5" name="Picture 4">
            <a:extLst>
              <a:ext uri="{FF2B5EF4-FFF2-40B4-BE49-F238E27FC236}">
                <a16:creationId xmlns:a16="http://schemas.microsoft.com/office/drawing/2014/main" id="{47B6CC8B-7EF5-50D1-A572-BCB13215572D}"/>
              </a:ext>
            </a:extLst>
          </p:cNvPr>
          <p:cNvPicPr>
            <a:picLocks noChangeAspect="1"/>
          </p:cNvPicPr>
          <p:nvPr/>
        </p:nvPicPr>
        <p:blipFill>
          <a:blip r:embed="rId3"/>
          <a:stretch>
            <a:fillRect/>
          </a:stretch>
        </p:blipFill>
        <p:spPr>
          <a:xfrm>
            <a:off x="3679284" y="3824748"/>
            <a:ext cx="1136240" cy="116020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417083" y="1228440"/>
            <a:ext cx="11357834" cy="4939814"/>
          </a:xfrm>
          <a:prstGeom prst="rect">
            <a:avLst/>
          </a:prstGeom>
          <a:noFill/>
        </p:spPr>
        <p:txBody>
          <a:bodyPr wrap="square" lIns="91440" tIns="45720" rIns="91440" bIns="45720" rtlCol="0" anchor="t">
            <a:spAutoFit/>
          </a:bodyPr>
          <a:lstStyle/>
          <a:p>
            <a:r>
              <a:rPr lang="en-US" sz="2000" b="1" dirty="0"/>
              <a:t>Problem Statement: </a:t>
            </a:r>
            <a:r>
              <a:rPr lang="en-IN" sz="2000" dirty="0"/>
              <a:t>Customer churn is one of the biggest challenges faced by telecom service providers. Acquiring a new customer is significantly more expensive than retaining an existing one. Customers may discontinue services due to high monthly charges, frequent service issues, contract expiration, excessive roaming charges, or dissatisfaction with available plans.</a:t>
            </a:r>
          </a:p>
          <a:p>
            <a:endParaRPr lang="en-IN" sz="2000" dirty="0"/>
          </a:p>
          <a:p>
            <a:r>
              <a:rPr lang="en-IN" sz="2000" dirty="0"/>
              <a:t>Traditional churn analysis methods rely on manual observation and historical reporting, making it difficult to identify at-risk customers in time. As customer data grows, organizations require an intelligent system that can </a:t>
            </a:r>
            <a:r>
              <a:rPr lang="en-IN" sz="2000" dirty="0" err="1"/>
              <a:t>analyze</a:t>
            </a:r>
            <a:r>
              <a:rPr lang="en-IN" sz="2000" dirty="0"/>
              <a:t> customer </a:t>
            </a:r>
            <a:r>
              <a:rPr lang="en-IN" sz="2000" dirty="0" err="1"/>
              <a:t>behavior</a:t>
            </a:r>
            <a:r>
              <a:rPr lang="en-IN" sz="2000" dirty="0"/>
              <a:t> and predict churn probability accurately.</a:t>
            </a:r>
          </a:p>
          <a:p>
            <a:endParaRPr lang="en-IN" sz="2000" dirty="0"/>
          </a:p>
          <a:p>
            <a:r>
              <a:rPr lang="en-IN" sz="2000" dirty="0"/>
              <a:t>The objective of this project is to develop an AI-powered churn prediction system that utilizes customer account information, service usage patterns, contract details, and support interactions to predict whether a customer is likely to leave the service. Early churn prediction enables telecom companies to take proactive retention measures, reduce revenue loss, and improve customer satisfaction.</a:t>
            </a:r>
          </a:p>
          <a:p>
            <a:pPr fontAlgn="base">
              <a:lnSpc>
                <a:spcPct val="150000"/>
              </a:lnSpc>
            </a:pPr>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351954" y="401529"/>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30332" y="1176179"/>
            <a:ext cx="11131336" cy="4124206"/>
          </a:xfrm>
          <a:prstGeom prst="rect">
            <a:avLst/>
          </a:prstGeom>
          <a:noFill/>
        </p:spPr>
        <p:txBody>
          <a:bodyPr wrap="square" lIns="91440" tIns="45720" rIns="91440" bIns="45720" rtlCol="0" anchor="t">
            <a:spAutoFit/>
          </a:bodyPr>
          <a:lstStyle/>
          <a:p>
            <a:pPr fontAlgn="base">
              <a:lnSpc>
                <a:spcPct val="150000"/>
              </a:lnSpc>
            </a:pPr>
            <a:r>
              <a:rPr lang="en-US" sz="2000" b="1" dirty="0"/>
              <a:t> </a:t>
            </a:r>
            <a:r>
              <a:rPr lang="en-IN" sz="2800" dirty="0"/>
              <a:t>Proposed Solution (IBM watsonx.ai Studio – </a:t>
            </a:r>
            <a:r>
              <a:rPr lang="en-IN" sz="2800" dirty="0" err="1"/>
              <a:t>AutoAI</a:t>
            </a:r>
            <a:r>
              <a:rPr lang="en-IN" sz="2800" dirty="0"/>
              <a:t>)</a:t>
            </a:r>
            <a:r>
              <a:rPr lang="en-US" sz="2000" b="1" dirty="0"/>
              <a:t>:</a:t>
            </a:r>
            <a:endParaRPr lang="en-US" b="1" dirty="0"/>
          </a:p>
          <a:p>
            <a:r>
              <a:rPr lang="en-IN" sz="2000" dirty="0"/>
              <a:t>We propose an AI-powered Customer Churn Prediction Platform using IBM Watson Machine Learning and </a:t>
            </a:r>
            <a:r>
              <a:rPr lang="en-IN" sz="2000" dirty="0" err="1"/>
              <a:t>AutoAI</a:t>
            </a:r>
            <a:r>
              <a:rPr lang="en-IN" sz="2000" dirty="0"/>
              <a:t>.</a:t>
            </a:r>
          </a:p>
          <a:p>
            <a:pPr marL="342900" indent="-342900">
              <a:buFont typeface="Arial" panose="020B0604020202020204" pitchFamily="34" charset="0"/>
              <a:buChar char="•"/>
            </a:pPr>
            <a:r>
              <a:rPr lang="en-IN" sz="2000" dirty="0"/>
              <a:t>Customer telecom usage data is uploaded to IBM watsonx.ai Studio. </a:t>
            </a:r>
          </a:p>
          <a:p>
            <a:pPr marL="342900" indent="-342900">
              <a:buFont typeface="Arial" panose="020B0604020202020204" pitchFamily="34" charset="0"/>
              <a:buChar char="•"/>
            </a:pPr>
            <a:r>
              <a:rPr lang="en-IN" sz="2000" dirty="0" err="1"/>
              <a:t>AutoAI</a:t>
            </a:r>
            <a:r>
              <a:rPr lang="en-IN" sz="2000" dirty="0"/>
              <a:t> automatically performs data preprocessing and feature engineering. </a:t>
            </a:r>
          </a:p>
          <a:p>
            <a:pPr marL="342900" indent="-342900">
              <a:buFont typeface="Arial" panose="020B0604020202020204" pitchFamily="34" charset="0"/>
              <a:buChar char="•"/>
            </a:pPr>
            <a:r>
              <a:rPr lang="en-IN" sz="2000" dirty="0"/>
              <a:t>Multiple machine learning models are generated and evaluated automatically. </a:t>
            </a:r>
          </a:p>
          <a:p>
            <a:pPr marL="342900" indent="-342900">
              <a:buFont typeface="Arial" panose="020B0604020202020204" pitchFamily="34" charset="0"/>
              <a:buChar char="•"/>
            </a:pPr>
            <a:r>
              <a:rPr lang="en-IN" sz="2000" dirty="0"/>
              <a:t>Hyperparameter tuning is performed by </a:t>
            </a:r>
            <a:r>
              <a:rPr lang="en-IN" sz="2000" dirty="0" err="1"/>
              <a:t>AutoAI</a:t>
            </a:r>
            <a:r>
              <a:rPr lang="en-IN" sz="2000" dirty="0"/>
              <a:t> to identify the best-performing model. </a:t>
            </a:r>
          </a:p>
          <a:p>
            <a:pPr marL="342900" indent="-342900">
              <a:buFont typeface="Arial" panose="020B0604020202020204" pitchFamily="34" charset="0"/>
              <a:buChar char="•"/>
            </a:pPr>
            <a:r>
              <a:rPr lang="en-IN" sz="2000" dirty="0"/>
              <a:t>The selected model is deployed as an online prediction endpoint using IBM Watson Machine Learning. </a:t>
            </a:r>
          </a:p>
          <a:p>
            <a:pPr marL="342900" indent="-342900">
              <a:buFont typeface="Arial" panose="020B0604020202020204" pitchFamily="34" charset="0"/>
              <a:buChar char="•"/>
            </a:pPr>
            <a:r>
              <a:rPr lang="en-IN" sz="2000" dirty="0"/>
              <a:t>A web application is developed using Node.js, HTML, CSS, and JavaScript. </a:t>
            </a:r>
          </a:p>
          <a:p>
            <a:pPr marL="342900" indent="-342900">
              <a:buFont typeface="Arial" panose="020B0604020202020204" pitchFamily="34" charset="0"/>
              <a:buChar char="•"/>
            </a:pPr>
            <a:r>
              <a:rPr lang="en-IN" sz="2000" dirty="0"/>
              <a:t>The web application communicates with the deployed IBM model through REST APIs. </a:t>
            </a:r>
          </a:p>
          <a:p>
            <a:pPr marL="342900" indent="-342900">
              <a:buFont typeface="Arial" panose="020B0604020202020204" pitchFamily="34" charset="0"/>
              <a:buChar char="•"/>
            </a:pPr>
            <a:r>
              <a:rPr lang="en-IN" sz="2000" dirty="0"/>
              <a:t>Users can enter customer details and instantly receive churn risk predictions.</a:t>
            </a:r>
          </a:p>
        </p:txBody>
      </p:sp>
      <p:sp>
        <p:nvSpPr>
          <p:cNvPr id="3" name="TextBox 2">
            <a:extLst>
              <a:ext uri="{FF2B5EF4-FFF2-40B4-BE49-F238E27FC236}">
                <a16:creationId xmlns:a16="http://schemas.microsoft.com/office/drawing/2014/main" id="{527F30CC-07EF-8FCC-DA00-C9212F5DAECE}"/>
              </a:ext>
            </a:extLst>
          </p:cNvPr>
          <p:cNvSpPr txBox="1"/>
          <p:nvPr/>
        </p:nvSpPr>
        <p:spPr>
          <a:xfrm>
            <a:off x="158538" y="203047"/>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838200" y="626905"/>
            <a:ext cx="10515600" cy="5570756"/>
          </a:xfrm>
          <a:prstGeom prst="rect">
            <a:avLst/>
          </a:prstGeom>
          <a:noFill/>
        </p:spPr>
        <p:txBody>
          <a:bodyPr wrap="square" lIns="91440" tIns="45720" rIns="91440" bIns="45720" rtlCol="0" anchor="t">
            <a:spAutoFit/>
          </a:bodyPr>
          <a:lstStyle/>
          <a:p>
            <a:endParaRPr lang="en-IN" sz="1800" b="1" dirty="0"/>
          </a:p>
          <a:p>
            <a:r>
              <a:rPr lang="en-IN" sz="1800" b="1" dirty="0"/>
              <a:t>IBM Cloud Services</a:t>
            </a:r>
          </a:p>
          <a:p>
            <a:pPr marL="285750" indent="-285750">
              <a:buFont typeface="Arial" panose="020B0604020202020204" pitchFamily="34" charset="0"/>
              <a:buChar char="•"/>
            </a:pPr>
            <a:r>
              <a:rPr lang="en-IN" sz="1800" dirty="0"/>
              <a:t>IBM Cloud </a:t>
            </a:r>
          </a:p>
          <a:p>
            <a:pPr marL="285750" indent="-285750">
              <a:buFont typeface="Arial" panose="020B0604020202020204" pitchFamily="34" charset="0"/>
              <a:buChar char="•"/>
            </a:pPr>
            <a:r>
              <a:rPr lang="en-IN" sz="1800" dirty="0"/>
              <a:t>IBM watsonx.ai Studio </a:t>
            </a:r>
          </a:p>
          <a:p>
            <a:pPr marL="285750" indent="-285750">
              <a:buFont typeface="Arial" panose="020B0604020202020204" pitchFamily="34" charset="0"/>
              <a:buChar char="•"/>
            </a:pPr>
            <a:r>
              <a:rPr lang="en-IN" sz="1800" dirty="0"/>
              <a:t>IBM </a:t>
            </a:r>
            <a:r>
              <a:rPr lang="en-IN" sz="1800" dirty="0" err="1"/>
              <a:t>AutoAI</a:t>
            </a:r>
            <a:r>
              <a:rPr lang="en-IN" sz="1800" dirty="0"/>
              <a:t> </a:t>
            </a:r>
          </a:p>
          <a:p>
            <a:pPr marL="285750" indent="-285750">
              <a:buFont typeface="Arial" panose="020B0604020202020204" pitchFamily="34" charset="0"/>
              <a:buChar char="•"/>
            </a:pPr>
            <a:r>
              <a:rPr lang="en-IN" sz="1800" dirty="0"/>
              <a:t>IBM Watson Machine Learning Deployment </a:t>
            </a:r>
          </a:p>
          <a:p>
            <a:r>
              <a:rPr lang="en-IN" sz="1800" b="1" dirty="0"/>
              <a:t>Development Technologies</a:t>
            </a:r>
          </a:p>
          <a:p>
            <a:pPr marL="285750" indent="-285750">
              <a:buFont typeface="Arial" panose="020B0604020202020204" pitchFamily="34" charset="0"/>
              <a:buChar char="•"/>
            </a:pPr>
            <a:r>
              <a:rPr lang="en-IN" sz="1800" dirty="0"/>
              <a:t>Node.js </a:t>
            </a:r>
          </a:p>
          <a:p>
            <a:pPr marL="285750" indent="-285750">
              <a:buFont typeface="Arial" panose="020B0604020202020204" pitchFamily="34" charset="0"/>
              <a:buChar char="•"/>
            </a:pPr>
            <a:r>
              <a:rPr lang="en-IN" sz="1800" dirty="0"/>
              <a:t>HTML </a:t>
            </a:r>
          </a:p>
          <a:p>
            <a:pPr marL="285750" indent="-285750">
              <a:buFont typeface="Arial" panose="020B0604020202020204" pitchFamily="34" charset="0"/>
              <a:buChar char="•"/>
            </a:pPr>
            <a:r>
              <a:rPr lang="en-IN" sz="1800" dirty="0"/>
              <a:t>CSS </a:t>
            </a:r>
          </a:p>
          <a:p>
            <a:pPr marL="285750" indent="-285750">
              <a:buFont typeface="Arial" panose="020B0604020202020204" pitchFamily="34" charset="0"/>
              <a:buChar char="•"/>
            </a:pPr>
            <a:r>
              <a:rPr lang="en-IN" sz="1800" dirty="0"/>
              <a:t>JavaScript </a:t>
            </a:r>
          </a:p>
          <a:p>
            <a:pPr marL="285750" indent="-285750">
              <a:buFont typeface="Arial" panose="020B0604020202020204" pitchFamily="34" charset="0"/>
              <a:buChar char="•"/>
            </a:pPr>
            <a:r>
              <a:rPr lang="en-IN" sz="1800" dirty="0"/>
              <a:t>REST API Integration </a:t>
            </a:r>
          </a:p>
          <a:p>
            <a:r>
              <a:rPr lang="en-IN" sz="1800" b="1" dirty="0"/>
              <a:t>ML Algorithm / Model Used</a:t>
            </a:r>
          </a:p>
          <a:p>
            <a:pPr marL="285750" indent="-285750">
              <a:buFont typeface="Arial" panose="020B0604020202020204" pitchFamily="34" charset="0"/>
              <a:buChar char="•"/>
            </a:pPr>
            <a:r>
              <a:rPr lang="en-IN" sz="1800" dirty="0"/>
              <a:t>IBM </a:t>
            </a:r>
            <a:r>
              <a:rPr lang="en-IN" sz="1800" dirty="0" err="1"/>
              <a:t>AutoAI</a:t>
            </a:r>
            <a:r>
              <a:rPr lang="en-IN" sz="1800" dirty="0"/>
              <a:t> Best Pipeline (Classifier generated by </a:t>
            </a:r>
            <a:r>
              <a:rPr lang="en-IN" sz="1800" dirty="0" err="1"/>
              <a:t>AutoAI</a:t>
            </a:r>
            <a:r>
              <a:rPr lang="en-IN" sz="1800" dirty="0"/>
              <a:t>)</a:t>
            </a:r>
            <a:endParaRPr lang="en-IN" dirty="0"/>
          </a:p>
          <a:p>
            <a:r>
              <a:rPr lang="en-IN" sz="1800" b="1" dirty="0"/>
              <a:t>Enhancements and Hyperparameter Tuning</a:t>
            </a:r>
          </a:p>
          <a:p>
            <a:pPr marL="285750" indent="-285750">
              <a:buFont typeface="Arial" panose="020B0604020202020204" pitchFamily="34" charset="0"/>
              <a:buChar char="•"/>
            </a:pPr>
            <a:r>
              <a:rPr lang="en-IN" sz="1800" dirty="0"/>
              <a:t>Automated Feature Engineering </a:t>
            </a:r>
          </a:p>
          <a:p>
            <a:pPr marL="285750" indent="-285750">
              <a:buFont typeface="Arial" panose="020B0604020202020204" pitchFamily="34" charset="0"/>
              <a:buChar char="•"/>
            </a:pPr>
            <a:r>
              <a:rPr lang="en-IN" sz="1800" dirty="0"/>
              <a:t>Automated Model Selection </a:t>
            </a:r>
          </a:p>
          <a:p>
            <a:pPr marL="285750" indent="-285750">
              <a:buFont typeface="Arial" panose="020B0604020202020204" pitchFamily="34" charset="0"/>
              <a:buChar char="•"/>
            </a:pPr>
            <a:r>
              <a:rPr lang="en-IN" sz="1800" dirty="0"/>
              <a:t>Hyperparameter Optimization using </a:t>
            </a:r>
            <a:r>
              <a:rPr lang="en-IN" sz="1800" dirty="0" err="1"/>
              <a:t>AutoAI</a:t>
            </a:r>
            <a:r>
              <a:rPr lang="en-IN" sz="1800" dirty="0"/>
              <a:t> </a:t>
            </a:r>
          </a:p>
          <a:p>
            <a:pPr marL="285750" indent="-285750">
              <a:buFont typeface="Arial" panose="020B0604020202020204" pitchFamily="34" charset="0"/>
              <a:buChar char="•"/>
            </a:pPr>
            <a:r>
              <a:rPr lang="en-IN" sz="1800" dirty="0"/>
              <a:t>Model Deployment through IBM Watson Machine Learning</a:t>
            </a:r>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Training Screenshots-</a:t>
            </a:r>
            <a:endParaRPr sz="2400" b="1">
              <a:sym typeface="Times New Roman"/>
            </a:endParaRPr>
          </a:p>
        </p:txBody>
      </p:sp>
      <p:pic>
        <p:nvPicPr>
          <p:cNvPr id="4" name="Picture 3">
            <a:extLst>
              <a:ext uri="{FF2B5EF4-FFF2-40B4-BE49-F238E27FC236}">
                <a16:creationId xmlns:a16="http://schemas.microsoft.com/office/drawing/2014/main" id="{B30931D5-D553-E9DE-CECE-7CC1A3035D55}"/>
              </a:ext>
            </a:extLst>
          </p:cNvPr>
          <p:cNvPicPr>
            <a:picLocks noChangeAspect="1"/>
          </p:cNvPicPr>
          <p:nvPr/>
        </p:nvPicPr>
        <p:blipFill>
          <a:blip r:embed="rId3"/>
          <a:stretch>
            <a:fillRect/>
          </a:stretch>
        </p:blipFill>
        <p:spPr>
          <a:xfrm>
            <a:off x="0" y="875097"/>
            <a:ext cx="12192000" cy="5107806"/>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23B35C3-64D0-2BC1-47F9-97276F6EEFB3}"/>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FC125E4A-4CF2-ACB0-1B0E-9D2A414F505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Training Screenshots-</a:t>
            </a:r>
            <a:endParaRPr sz="2400" b="1">
              <a:sym typeface="Times New Roman"/>
            </a:endParaRPr>
          </a:p>
        </p:txBody>
      </p:sp>
      <p:pic>
        <p:nvPicPr>
          <p:cNvPr id="5" name="Picture 4">
            <a:extLst>
              <a:ext uri="{FF2B5EF4-FFF2-40B4-BE49-F238E27FC236}">
                <a16:creationId xmlns:a16="http://schemas.microsoft.com/office/drawing/2014/main" id="{E3B797C7-F7D2-B1BB-0085-1D2F0F7A7B90}"/>
              </a:ext>
            </a:extLst>
          </p:cNvPr>
          <p:cNvPicPr>
            <a:picLocks noChangeAspect="1"/>
          </p:cNvPicPr>
          <p:nvPr/>
        </p:nvPicPr>
        <p:blipFill>
          <a:blip r:embed="rId3"/>
          <a:stretch>
            <a:fillRect/>
          </a:stretch>
        </p:blipFill>
        <p:spPr>
          <a:xfrm>
            <a:off x="0" y="1272051"/>
            <a:ext cx="12192000" cy="4313897"/>
          </a:xfrm>
          <a:prstGeom prst="rect">
            <a:avLst/>
          </a:prstGeom>
        </p:spPr>
      </p:pic>
    </p:spTree>
    <p:extLst>
      <p:ext uri="{BB962C8B-B14F-4D97-AF65-F5344CB8AC3E}">
        <p14:creationId xmlns:p14="http://schemas.microsoft.com/office/powerpoint/2010/main" val="62762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7F0059E-AC27-DFE4-C38A-A99CF9D22D9B}"/>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958FA49E-36DF-33B6-9146-6436C5CC8C7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Training Screenshots-</a:t>
            </a:r>
            <a:endParaRPr sz="2400" b="1">
              <a:sym typeface="Times New Roman"/>
            </a:endParaRPr>
          </a:p>
        </p:txBody>
      </p:sp>
      <p:pic>
        <p:nvPicPr>
          <p:cNvPr id="4" name="Picture 3">
            <a:extLst>
              <a:ext uri="{FF2B5EF4-FFF2-40B4-BE49-F238E27FC236}">
                <a16:creationId xmlns:a16="http://schemas.microsoft.com/office/drawing/2014/main" id="{F3E6F434-206F-2982-90F2-70DA42E38C31}"/>
              </a:ext>
            </a:extLst>
          </p:cNvPr>
          <p:cNvPicPr>
            <a:picLocks noChangeAspect="1"/>
          </p:cNvPicPr>
          <p:nvPr/>
        </p:nvPicPr>
        <p:blipFill>
          <a:blip r:embed="rId3"/>
          <a:stretch>
            <a:fillRect/>
          </a:stretch>
        </p:blipFill>
        <p:spPr>
          <a:xfrm>
            <a:off x="0" y="1684036"/>
            <a:ext cx="12192000" cy="3489928"/>
          </a:xfrm>
          <a:prstGeom prst="rect">
            <a:avLst/>
          </a:prstGeom>
        </p:spPr>
      </p:pic>
    </p:spTree>
    <p:extLst>
      <p:ext uri="{BB962C8B-B14F-4D97-AF65-F5344CB8AC3E}">
        <p14:creationId xmlns:p14="http://schemas.microsoft.com/office/powerpoint/2010/main" val="1779422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Best Model Screenshot:</a:t>
            </a:r>
          </a:p>
        </p:txBody>
      </p:sp>
      <p:pic>
        <p:nvPicPr>
          <p:cNvPr id="4" name="Picture 3">
            <a:extLst>
              <a:ext uri="{FF2B5EF4-FFF2-40B4-BE49-F238E27FC236}">
                <a16:creationId xmlns:a16="http://schemas.microsoft.com/office/drawing/2014/main" id="{F40FEB8F-3F47-EA67-3475-FC6FE01A6DDF}"/>
              </a:ext>
            </a:extLst>
          </p:cNvPr>
          <p:cNvPicPr>
            <a:picLocks noChangeAspect="1"/>
          </p:cNvPicPr>
          <p:nvPr/>
        </p:nvPicPr>
        <p:blipFill>
          <a:blip r:embed="rId3"/>
          <a:stretch>
            <a:fillRect/>
          </a:stretch>
        </p:blipFill>
        <p:spPr>
          <a:xfrm>
            <a:off x="0" y="1823799"/>
            <a:ext cx="12192000" cy="2540810"/>
          </a:xfrm>
          <a:prstGeom prst="rect">
            <a:avLst/>
          </a:prstGeom>
        </p:spPr>
      </p:pic>
      <p:pic>
        <p:nvPicPr>
          <p:cNvPr id="8" name="Picture 7">
            <a:extLst>
              <a:ext uri="{FF2B5EF4-FFF2-40B4-BE49-F238E27FC236}">
                <a16:creationId xmlns:a16="http://schemas.microsoft.com/office/drawing/2014/main" id="{F0D4B9CF-AA45-29D3-4B35-012F661B6CD2}"/>
              </a:ext>
            </a:extLst>
          </p:cNvPr>
          <p:cNvPicPr>
            <a:picLocks noChangeAspect="1"/>
          </p:cNvPicPr>
          <p:nvPr/>
        </p:nvPicPr>
        <p:blipFill>
          <a:blip r:embed="rId4"/>
          <a:stretch>
            <a:fillRect/>
          </a:stretch>
        </p:blipFill>
        <p:spPr>
          <a:xfrm>
            <a:off x="0" y="3919699"/>
            <a:ext cx="12192000" cy="165570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Testing Screenshot:</a:t>
            </a:r>
          </a:p>
        </p:txBody>
      </p:sp>
      <p:pic>
        <p:nvPicPr>
          <p:cNvPr id="4" name="Picture 3">
            <a:extLst>
              <a:ext uri="{FF2B5EF4-FFF2-40B4-BE49-F238E27FC236}">
                <a16:creationId xmlns:a16="http://schemas.microsoft.com/office/drawing/2014/main" id="{332D89C9-C645-8C83-DC4E-29F1B49292E0}"/>
              </a:ext>
            </a:extLst>
          </p:cNvPr>
          <p:cNvPicPr>
            <a:picLocks noChangeAspect="1"/>
          </p:cNvPicPr>
          <p:nvPr/>
        </p:nvPicPr>
        <p:blipFill>
          <a:blip r:embed="rId3"/>
          <a:stretch>
            <a:fillRect/>
          </a:stretch>
        </p:blipFill>
        <p:spPr>
          <a:xfrm>
            <a:off x="0" y="855406"/>
            <a:ext cx="12192000" cy="5457996"/>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414759" y="207380"/>
            <a:ext cx="281650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Calibri"/>
              </a:rPr>
              <a:t>Testing Screenshot:</a:t>
            </a:r>
            <a:endParaRPr lang="en-US"/>
          </a:p>
          <a:p>
            <a:pPr algn="ctr"/>
            <a:endParaRPr lang="en-US"/>
          </a:p>
        </p:txBody>
      </p:sp>
      <p:pic>
        <p:nvPicPr>
          <p:cNvPr id="3" name="Picture 2">
            <a:extLst>
              <a:ext uri="{FF2B5EF4-FFF2-40B4-BE49-F238E27FC236}">
                <a16:creationId xmlns:a16="http://schemas.microsoft.com/office/drawing/2014/main" id="{C628062D-67B7-40B5-3E60-D4968BA2A18A}"/>
              </a:ext>
            </a:extLst>
          </p:cNvPr>
          <p:cNvPicPr>
            <a:picLocks noChangeAspect="1"/>
          </p:cNvPicPr>
          <p:nvPr/>
        </p:nvPicPr>
        <p:blipFill>
          <a:blip r:embed="rId2"/>
          <a:stretch>
            <a:fillRect/>
          </a:stretch>
        </p:blipFill>
        <p:spPr>
          <a:xfrm>
            <a:off x="0" y="672340"/>
            <a:ext cx="12192000" cy="5513320"/>
          </a:xfrm>
          <a:prstGeom prst="rect">
            <a:avLst/>
          </a:prstGeom>
        </p:spPr>
      </p:pic>
    </p:spTree>
    <p:extLst>
      <p:ext uri="{BB962C8B-B14F-4D97-AF65-F5344CB8AC3E}">
        <p14:creationId xmlns:p14="http://schemas.microsoft.com/office/powerpoint/2010/main" val="3021295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6E58D-AD32-FED0-9936-F10EA41BD90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9C33573-C643-9CBF-8618-9C994706993B}"/>
              </a:ext>
            </a:extLst>
          </p:cNvPr>
          <p:cNvSpPr txBox="1"/>
          <p:nvPr/>
        </p:nvSpPr>
        <p:spPr>
          <a:xfrm>
            <a:off x="414759" y="207380"/>
            <a:ext cx="281650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Calibri"/>
              </a:rPr>
              <a:t>Testing Screenshot:</a:t>
            </a:r>
            <a:endParaRPr lang="en-US"/>
          </a:p>
          <a:p>
            <a:pPr algn="ctr"/>
            <a:endParaRPr lang="en-US"/>
          </a:p>
        </p:txBody>
      </p:sp>
      <p:pic>
        <p:nvPicPr>
          <p:cNvPr id="7" name="Picture 6">
            <a:extLst>
              <a:ext uri="{FF2B5EF4-FFF2-40B4-BE49-F238E27FC236}">
                <a16:creationId xmlns:a16="http://schemas.microsoft.com/office/drawing/2014/main" id="{16C76DAD-2C2C-F393-30A9-F88EC1C9478C}"/>
              </a:ext>
            </a:extLst>
          </p:cNvPr>
          <p:cNvPicPr>
            <a:picLocks noChangeAspect="1"/>
          </p:cNvPicPr>
          <p:nvPr/>
        </p:nvPicPr>
        <p:blipFill>
          <a:blip r:embed="rId2"/>
          <a:stretch>
            <a:fillRect/>
          </a:stretch>
        </p:blipFill>
        <p:spPr>
          <a:xfrm>
            <a:off x="329380" y="884488"/>
            <a:ext cx="11533239" cy="5455938"/>
          </a:xfrm>
          <a:prstGeom prst="rect">
            <a:avLst/>
          </a:prstGeom>
        </p:spPr>
      </p:pic>
    </p:spTree>
    <p:extLst>
      <p:ext uri="{BB962C8B-B14F-4D97-AF65-F5344CB8AC3E}">
        <p14:creationId xmlns:p14="http://schemas.microsoft.com/office/powerpoint/2010/main" val="3802763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38317-FB16-F375-DC12-39D5FA49BEF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59C2674-92AD-794E-7ECC-AEC2E4DC55FE}"/>
              </a:ext>
            </a:extLst>
          </p:cNvPr>
          <p:cNvSpPr txBox="1"/>
          <p:nvPr/>
        </p:nvSpPr>
        <p:spPr>
          <a:xfrm>
            <a:off x="414759" y="207380"/>
            <a:ext cx="281650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Calibri"/>
              </a:rPr>
              <a:t>Testing Screenshot:</a:t>
            </a:r>
            <a:endParaRPr lang="en-US"/>
          </a:p>
          <a:p>
            <a:pPr algn="ctr"/>
            <a:endParaRPr lang="en-US"/>
          </a:p>
        </p:txBody>
      </p:sp>
      <p:pic>
        <p:nvPicPr>
          <p:cNvPr id="3" name="Picture 2">
            <a:extLst>
              <a:ext uri="{FF2B5EF4-FFF2-40B4-BE49-F238E27FC236}">
                <a16:creationId xmlns:a16="http://schemas.microsoft.com/office/drawing/2014/main" id="{448AB868-88B7-4372-3FA7-2C123E0D9305}"/>
              </a:ext>
            </a:extLst>
          </p:cNvPr>
          <p:cNvPicPr>
            <a:picLocks noChangeAspect="1"/>
          </p:cNvPicPr>
          <p:nvPr/>
        </p:nvPicPr>
        <p:blipFill>
          <a:blip r:embed="rId2"/>
          <a:stretch>
            <a:fillRect/>
          </a:stretch>
        </p:blipFill>
        <p:spPr>
          <a:xfrm>
            <a:off x="689318" y="884488"/>
            <a:ext cx="10813364" cy="5702709"/>
          </a:xfrm>
          <a:prstGeom prst="rect">
            <a:avLst/>
          </a:prstGeom>
        </p:spPr>
      </p:pic>
    </p:spTree>
    <p:extLst>
      <p:ext uri="{BB962C8B-B14F-4D97-AF65-F5344CB8AC3E}">
        <p14:creationId xmlns:p14="http://schemas.microsoft.com/office/powerpoint/2010/main" val="1518436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B1C33-F531-5EE2-5C5C-0928DCF93C9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4CB6123-6399-2784-2B99-744DA777D4D4}"/>
              </a:ext>
            </a:extLst>
          </p:cNvPr>
          <p:cNvSpPr txBox="1"/>
          <p:nvPr/>
        </p:nvSpPr>
        <p:spPr>
          <a:xfrm>
            <a:off x="414759" y="207380"/>
            <a:ext cx="281650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Calibri"/>
              </a:rPr>
              <a:t>Testing Screenshot:</a:t>
            </a:r>
            <a:endParaRPr lang="en-US"/>
          </a:p>
          <a:p>
            <a:pPr algn="ctr"/>
            <a:endParaRPr lang="en-US"/>
          </a:p>
        </p:txBody>
      </p:sp>
      <p:pic>
        <p:nvPicPr>
          <p:cNvPr id="4" name="Picture 3">
            <a:extLst>
              <a:ext uri="{FF2B5EF4-FFF2-40B4-BE49-F238E27FC236}">
                <a16:creationId xmlns:a16="http://schemas.microsoft.com/office/drawing/2014/main" id="{C3CAA95D-7631-985E-E5F6-FB4278CE9D86}"/>
              </a:ext>
            </a:extLst>
          </p:cNvPr>
          <p:cNvPicPr>
            <a:picLocks noChangeAspect="1"/>
          </p:cNvPicPr>
          <p:nvPr/>
        </p:nvPicPr>
        <p:blipFill>
          <a:blip r:embed="rId2"/>
          <a:stretch>
            <a:fillRect/>
          </a:stretch>
        </p:blipFill>
        <p:spPr>
          <a:xfrm>
            <a:off x="2836432" y="698090"/>
            <a:ext cx="5717633" cy="6159910"/>
          </a:xfrm>
          <a:prstGeom prst="rect">
            <a:avLst/>
          </a:prstGeom>
        </p:spPr>
      </p:pic>
    </p:spTree>
    <p:extLst>
      <p:ext uri="{BB962C8B-B14F-4D97-AF65-F5344CB8AC3E}">
        <p14:creationId xmlns:p14="http://schemas.microsoft.com/office/powerpoint/2010/main" val="3122355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197176"/>
            <a:ext cx="10769628" cy="3139321"/>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IN" sz="2000" dirty="0"/>
              <a:t>Automates customer churn prediction using Artificial Intelligence. </a:t>
            </a:r>
          </a:p>
          <a:p>
            <a:pPr marL="285750" indent="-285750">
              <a:buFont typeface="Arial" panose="020B0604020202020204" pitchFamily="34" charset="0"/>
              <a:buChar char="•"/>
            </a:pPr>
            <a:r>
              <a:rPr lang="en-IN" sz="2000" dirty="0"/>
              <a:t>Utilizes IBM </a:t>
            </a:r>
            <a:r>
              <a:rPr lang="en-IN" sz="2000" dirty="0" err="1"/>
              <a:t>AutoAI</a:t>
            </a:r>
            <a:r>
              <a:rPr lang="en-IN" sz="2000" dirty="0"/>
              <a:t> for automated model generation and optimization. </a:t>
            </a:r>
          </a:p>
          <a:p>
            <a:pPr marL="285750" indent="-285750">
              <a:buFont typeface="Arial" panose="020B0604020202020204" pitchFamily="34" charset="0"/>
              <a:buChar char="•"/>
            </a:pPr>
            <a:r>
              <a:rPr lang="en-IN" sz="2000" dirty="0"/>
              <a:t>Eliminates the need for manual churn analysis. </a:t>
            </a:r>
          </a:p>
          <a:p>
            <a:pPr marL="285750" indent="-285750">
              <a:buFont typeface="Arial" panose="020B0604020202020204" pitchFamily="34" charset="0"/>
              <a:buChar char="•"/>
            </a:pPr>
            <a:r>
              <a:rPr lang="en-IN" sz="2000" dirty="0"/>
              <a:t>Provides real-time predictions through a user-friendly web interface. </a:t>
            </a:r>
          </a:p>
          <a:p>
            <a:pPr marL="285750" indent="-285750">
              <a:buFont typeface="Arial" panose="020B0604020202020204" pitchFamily="34" charset="0"/>
              <a:buChar char="•"/>
            </a:pPr>
            <a:r>
              <a:rPr lang="en-IN" sz="2000" dirty="0"/>
              <a:t>Integrates IBM Watson Machine Learning deployment with a custom web application. </a:t>
            </a:r>
          </a:p>
          <a:p>
            <a:pPr marL="285750" indent="-285750">
              <a:buFont typeface="Arial" panose="020B0604020202020204" pitchFamily="34" charset="0"/>
              <a:buChar char="•"/>
            </a:pPr>
            <a:r>
              <a:rPr lang="en-IN" sz="2000" dirty="0"/>
              <a:t>Enables businesses to identify high-risk customers proactively. </a:t>
            </a:r>
          </a:p>
          <a:p>
            <a:pPr marL="285750" indent="-285750">
              <a:buFont typeface="Arial" panose="020B0604020202020204" pitchFamily="34" charset="0"/>
              <a:buChar char="•"/>
            </a:pPr>
            <a:r>
              <a:rPr lang="en-IN" sz="2000" dirty="0"/>
              <a:t>Helps reduce customer attrition and revenue loss. </a:t>
            </a:r>
          </a:p>
          <a:p>
            <a:pPr marL="285750" indent="-285750">
              <a:buFont typeface="Arial" panose="020B0604020202020204" pitchFamily="34" charset="0"/>
              <a:buChar char="•"/>
            </a:pPr>
            <a:r>
              <a:rPr lang="en-IN" sz="2000" dirty="0"/>
              <a:t>Supports data-driven decision-making for retention strategies. </a:t>
            </a:r>
          </a:p>
          <a:p>
            <a:pPr marL="285750" indent="-285750">
              <a:buFont typeface="Arial" panose="020B0604020202020204" pitchFamily="34" charset="0"/>
              <a:buChar char="•"/>
            </a:pPr>
            <a:r>
              <a:rPr lang="en-IN" sz="2000" dirty="0"/>
              <a:t>Demonstrates end-to-end Machine Learning lifecycle implementation on IBM Cloud.</a:t>
            </a:r>
          </a:p>
          <a:p>
            <a:endParaRPr lang="en-IN" sz="1800" b="1" dirty="0"/>
          </a:p>
        </p:txBody>
      </p:sp>
    </p:spTree>
    <p:extLst>
      <p:ext uri="{BB962C8B-B14F-4D97-AF65-F5344CB8AC3E}">
        <p14:creationId xmlns:p14="http://schemas.microsoft.com/office/powerpoint/2010/main" val="917964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dirty="0">
                <a:latin typeface="Times New Roman"/>
                <a:ea typeface="Times New Roman"/>
                <a:cs typeface="Times New Roman"/>
                <a:sym typeface="Times New Roman"/>
              </a:rPr>
              <a:t>Link: </a:t>
            </a:r>
            <a:r>
              <a:rPr lang="en-US" sz="2000" dirty="0">
                <a:latin typeface="Times New Roman"/>
                <a:ea typeface="Times New Roman"/>
                <a:cs typeface="Times New Roman"/>
                <a:sym typeface="Times New Roman"/>
                <a:hlinkClick r:id="rId3"/>
              </a:rPr>
              <a:t>https://github.com/DivyanshThakur2004/Churn-Prediction</a:t>
            </a:r>
            <a:endParaRPr lang="en-US" sz="2000" dirty="0">
              <a:latin typeface="Times New Roman"/>
              <a:ea typeface="Times New Roman"/>
              <a:cs typeface="Times New Roman"/>
              <a:sym typeface="Times New Roman"/>
            </a:endParaRPr>
          </a:p>
          <a:p>
            <a:pPr lvl="0">
              <a:lnSpc>
                <a:spcPct val="162162"/>
              </a:lnSpc>
              <a:buClr>
                <a:srgbClr val="2B3541"/>
              </a:buClr>
              <a:buSzPts val="1850"/>
            </a:pPr>
            <a:endParaRPr sz="20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00466BEA-8BA0-19A7-4434-184F6EFCF2FC}"/>
              </a:ext>
            </a:extLst>
          </p:cNvPr>
          <p:cNvPicPr>
            <a:picLocks noChangeAspect="1"/>
          </p:cNvPicPr>
          <p:nvPr/>
        </p:nvPicPr>
        <p:blipFill>
          <a:blip r:embed="rId4"/>
          <a:stretch>
            <a:fillRect/>
          </a:stretch>
        </p:blipFill>
        <p:spPr>
          <a:xfrm>
            <a:off x="0" y="1901292"/>
            <a:ext cx="12192000" cy="4667905"/>
          </a:xfrm>
          <a:prstGeom prst="rect">
            <a:avLst/>
          </a:prstGeom>
        </p:spPr>
      </p:pic>
    </p:spTree>
    <p:extLst>
      <p:ext uri="{BB962C8B-B14F-4D97-AF65-F5344CB8AC3E}">
        <p14:creationId xmlns:p14="http://schemas.microsoft.com/office/powerpoint/2010/main" val="2605851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342900" indent="-342900">
              <a:buFont typeface="Arial" panose="020B0604020202020204" pitchFamily="34" charset="0"/>
              <a:buChar char="•"/>
            </a:pPr>
            <a:r>
              <a:rPr lang="en-IN" sz="2000" dirty="0"/>
              <a:t>Integrate customer retention recommendations using Generative AI. </a:t>
            </a:r>
          </a:p>
          <a:p>
            <a:pPr marL="342900" indent="-342900">
              <a:buFont typeface="Arial" panose="020B0604020202020204" pitchFamily="34" charset="0"/>
              <a:buChar char="•"/>
            </a:pPr>
            <a:r>
              <a:rPr lang="en-IN" sz="2000" dirty="0"/>
              <a:t>Provide personalized retention offers for high-risk customers. </a:t>
            </a:r>
          </a:p>
          <a:p>
            <a:pPr marL="342900" indent="-342900">
              <a:buFont typeface="Arial" panose="020B0604020202020204" pitchFamily="34" charset="0"/>
              <a:buChar char="•"/>
            </a:pPr>
            <a:r>
              <a:rPr lang="en-IN" sz="2000" dirty="0"/>
              <a:t>Support real-time telecom customer databases. </a:t>
            </a:r>
          </a:p>
          <a:p>
            <a:pPr marL="342900" indent="-342900">
              <a:buFont typeface="Arial" panose="020B0604020202020204" pitchFamily="34" charset="0"/>
              <a:buChar char="•"/>
            </a:pPr>
            <a:r>
              <a:rPr lang="en-IN" sz="2000" dirty="0"/>
              <a:t>Integrate with CRM platforms for automated intervention. </a:t>
            </a:r>
          </a:p>
          <a:p>
            <a:pPr marL="342900" indent="-342900">
              <a:buFont typeface="Arial" panose="020B0604020202020204" pitchFamily="34" charset="0"/>
              <a:buChar char="•"/>
            </a:pPr>
            <a:r>
              <a:rPr lang="en-IN" sz="2000" dirty="0"/>
              <a:t>Implement customer segmentation and lifetime value analysis. </a:t>
            </a:r>
          </a:p>
          <a:p>
            <a:pPr marL="342900" indent="-342900">
              <a:buFont typeface="Arial" panose="020B0604020202020204" pitchFamily="34" charset="0"/>
              <a:buChar char="•"/>
            </a:pPr>
            <a:r>
              <a:rPr lang="en-IN" sz="2000" dirty="0"/>
              <a:t>Expand the platform to banking, insurance, and subscription businesses. </a:t>
            </a:r>
          </a:p>
          <a:p>
            <a:pPr marL="342900" indent="-342900">
              <a:buFont typeface="Arial" panose="020B0604020202020204" pitchFamily="34" charset="0"/>
              <a:buChar char="•"/>
            </a:pPr>
            <a:r>
              <a:rPr lang="en-IN" sz="2000" dirty="0"/>
              <a:t>Develop mobile application support. </a:t>
            </a:r>
          </a:p>
          <a:p>
            <a:pPr marL="342900" indent="-342900">
              <a:buFont typeface="Arial" panose="020B0604020202020204" pitchFamily="34" charset="0"/>
              <a:buChar char="•"/>
            </a:pPr>
            <a:r>
              <a:rPr lang="en-IN" sz="2000" dirty="0"/>
              <a:t>Continuously retrain models using new customer data. </a:t>
            </a:r>
          </a:p>
          <a:p>
            <a:pPr marL="342900" indent="-342900">
              <a:buFont typeface="Arial" panose="020B0604020202020204" pitchFamily="34" charset="0"/>
              <a:buChar char="•"/>
            </a:pPr>
            <a:r>
              <a:rPr lang="en-IN" sz="2000" dirty="0"/>
              <a:t>Improve prediction accuracy through advanced deep learning models. </a:t>
            </a:r>
          </a:p>
          <a:p>
            <a:pPr marL="0" marR="0" lvl="0" indent="0" algn="l">
              <a:lnSpc>
                <a:spcPct val="150000"/>
              </a:lnSpc>
              <a:spcBef>
                <a:spcPts val="0"/>
              </a:spcBef>
              <a:spcAft>
                <a:spcPts val="0"/>
              </a:spcAft>
              <a:buSzPts val="1850"/>
              <a:buFont typeface="Times New Roman"/>
              <a:buNone/>
            </a:pPr>
            <a:endParaRPr lang="en-US" sz="1850" b="1" dirty="0">
              <a:solidFill>
                <a:srgbClr val="2B3541"/>
              </a:solidFill>
              <a:latin typeface="Times New Roman"/>
              <a:cs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p>
        </p:txBody>
      </p:sp>
      <p:pic>
        <p:nvPicPr>
          <p:cNvPr id="8" name="Picture 7">
            <a:extLst>
              <a:ext uri="{FF2B5EF4-FFF2-40B4-BE49-F238E27FC236}">
                <a16:creationId xmlns:a16="http://schemas.microsoft.com/office/drawing/2014/main" id="{4436C283-29AD-965A-02FA-DE8D314FFB04}"/>
              </a:ext>
            </a:extLst>
          </p:cNvPr>
          <p:cNvPicPr>
            <a:picLocks noChangeAspect="1"/>
          </p:cNvPicPr>
          <p:nvPr/>
        </p:nvPicPr>
        <p:blipFill>
          <a:blip r:embed="rId2"/>
          <a:stretch>
            <a:fillRect/>
          </a:stretch>
        </p:blipFill>
        <p:spPr>
          <a:xfrm>
            <a:off x="1530110" y="690061"/>
            <a:ext cx="8449632" cy="596055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E00B4-2C7B-7712-F913-BBEA84A1050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F87FEB5-D87A-62DA-626E-DA956BC1881A}"/>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9941A806-FD7B-94A3-0305-F18BF125A80B}"/>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p>
        </p:txBody>
      </p:sp>
      <p:pic>
        <p:nvPicPr>
          <p:cNvPr id="4" name="Picture 3">
            <a:extLst>
              <a:ext uri="{FF2B5EF4-FFF2-40B4-BE49-F238E27FC236}">
                <a16:creationId xmlns:a16="http://schemas.microsoft.com/office/drawing/2014/main" id="{0C4D1EC3-091A-78F1-7BB8-A692D20301FD}"/>
              </a:ext>
            </a:extLst>
          </p:cNvPr>
          <p:cNvPicPr>
            <a:picLocks noChangeAspect="1"/>
          </p:cNvPicPr>
          <p:nvPr/>
        </p:nvPicPr>
        <p:blipFill>
          <a:blip r:embed="rId2"/>
          <a:stretch>
            <a:fillRect/>
          </a:stretch>
        </p:blipFill>
        <p:spPr>
          <a:xfrm>
            <a:off x="1449908" y="690061"/>
            <a:ext cx="8687152" cy="5973512"/>
          </a:xfrm>
          <a:prstGeom prst="rect">
            <a:avLst/>
          </a:prstGeom>
        </p:spPr>
      </p:pic>
    </p:spTree>
    <p:extLst>
      <p:ext uri="{BB962C8B-B14F-4D97-AF65-F5344CB8AC3E}">
        <p14:creationId xmlns:p14="http://schemas.microsoft.com/office/powerpoint/2010/main" val="4006674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AEE5E-1C28-4377-51EC-B2658C7C832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0E51FE4-B003-7E69-A5CE-47C42753EF68}"/>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7CB6DE9D-E070-6D27-A394-F7C852B7925B}"/>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p>
        </p:txBody>
      </p:sp>
      <p:pic>
        <p:nvPicPr>
          <p:cNvPr id="5" name="Picture 4">
            <a:extLst>
              <a:ext uri="{FF2B5EF4-FFF2-40B4-BE49-F238E27FC236}">
                <a16:creationId xmlns:a16="http://schemas.microsoft.com/office/drawing/2014/main" id="{B6D99623-B1C1-969A-C1FA-FF8A01966C18}"/>
              </a:ext>
            </a:extLst>
          </p:cNvPr>
          <p:cNvPicPr>
            <a:picLocks noChangeAspect="1"/>
          </p:cNvPicPr>
          <p:nvPr/>
        </p:nvPicPr>
        <p:blipFill>
          <a:blip r:embed="rId2"/>
          <a:stretch>
            <a:fillRect/>
          </a:stretch>
        </p:blipFill>
        <p:spPr>
          <a:xfrm>
            <a:off x="1275940" y="690061"/>
            <a:ext cx="8900447" cy="6099112"/>
          </a:xfrm>
          <a:prstGeom prst="rect">
            <a:avLst/>
          </a:prstGeom>
        </p:spPr>
      </p:pic>
    </p:spTree>
    <p:extLst>
      <p:ext uri="{BB962C8B-B14F-4D97-AF65-F5344CB8AC3E}">
        <p14:creationId xmlns:p14="http://schemas.microsoft.com/office/powerpoint/2010/main" val="1638665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00CD26A4-04F8-E266-5356-40D719DDC88C}"/>
              </a:ext>
            </a:extLst>
          </p:cNvPr>
          <p:cNvPicPr>
            <a:picLocks noChangeAspect="1"/>
          </p:cNvPicPr>
          <p:nvPr/>
        </p:nvPicPr>
        <p:blipFill>
          <a:blip r:embed="rId2"/>
          <a:stretch>
            <a:fillRect/>
          </a:stretch>
        </p:blipFill>
        <p:spPr>
          <a:xfrm>
            <a:off x="964437" y="677108"/>
            <a:ext cx="10263126" cy="5954501"/>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646</Words>
  <Application>Microsoft Office PowerPoint</Application>
  <PresentationFormat>Widescreen</PresentationFormat>
  <Paragraphs>93</Paragraphs>
  <Slides>22</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Divyansh Thakur</cp:lastModifiedBy>
  <cp:revision>4</cp:revision>
  <dcterms:created xsi:type="dcterms:W3CDTF">2025-07-08T05:06:56Z</dcterms:created>
  <dcterms:modified xsi:type="dcterms:W3CDTF">2026-06-27T15:58:31Z</dcterms:modified>
</cp:coreProperties>
</file>